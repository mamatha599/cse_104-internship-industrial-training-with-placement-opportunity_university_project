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9" r:id="rId3"/>
    <p:sldId id="257" r:id="rId4"/>
    <p:sldId id="274" r:id="rId5"/>
    <p:sldId id="280" r:id="rId6"/>
    <p:sldId id="283" r:id="rId7"/>
    <p:sldId id="273" r:id="rId8"/>
    <p:sldId id="268" r:id="rId9"/>
    <p:sldId id="277" r:id="rId10"/>
    <p:sldId id="272" r:id="rId11"/>
    <p:sldId id="278" r:id="rId12"/>
    <p:sldId id="281" r:id="rId13"/>
    <p:sldId id="279" r:id="rId14"/>
    <p:sldId id="282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272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889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matha599/CSE_104-Internship-Industrial-Training-with-Placement-Opportunity_University_Projec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shala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insuperset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088484" y="2451202"/>
            <a:ext cx="4313094" cy="195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Ramesh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346513" y="11173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CSE7302 –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Internship Project</a:t>
            </a:r>
            <a:endParaRPr lang="en-GB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Review- 1</a:t>
            </a:r>
          </a:p>
        </p:txBody>
      </p:sp>
      <p:sp>
        <p:nvSpPr>
          <p:cNvPr id="8" name="Google Shape;91;p13"/>
          <p:cNvSpPr txBox="1"/>
          <p:nvPr/>
        </p:nvSpPr>
        <p:spPr>
          <a:xfrm>
            <a:off x="1182118" y="4716957"/>
            <a:ext cx="895618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Computer Science And Engineering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Blessed Prince P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IN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Mr. </a:t>
            </a:r>
            <a:r>
              <a:rPr lang="en-IN" sz="18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Muthuraju</a:t>
            </a:r>
            <a:r>
              <a:rPr lang="en-IN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V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22FD6B-8EE0-E2F4-F299-55C4A4569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78284"/>
              </p:ext>
            </p:extLst>
          </p:nvPr>
        </p:nvGraphicFramePr>
        <p:xfrm>
          <a:off x="790422" y="2605605"/>
          <a:ext cx="5211558" cy="1768710"/>
        </p:xfrm>
        <a:graphic>
          <a:graphicData uri="http://schemas.openxmlformats.org/drawingml/2006/table">
            <a:tbl>
              <a:tblPr firstRow="1" bandRow="1"/>
              <a:tblGrid>
                <a:gridCol w="2605779">
                  <a:extLst>
                    <a:ext uri="{9D8B030D-6E8A-4147-A177-3AD203B41FA5}">
                      <a16:colId xmlns:a16="http://schemas.microsoft.com/office/drawing/2014/main" val="1875651650"/>
                    </a:ext>
                  </a:extLst>
                </a:gridCol>
                <a:gridCol w="2605779">
                  <a:extLst>
                    <a:ext uri="{9D8B030D-6E8A-4147-A177-3AD203B41FA5}">
                      <a16:colId xmlns:a16="http://schemas.microsoft.com/office/drawing/2014/main" val="1736351963"/>
                    </a:ext>
                  </a:extLst>
                </a:gridCol>
              </a:tblGrid>
              <a:tr h="3869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</a:p>
                    <a:p>
                      <a:pPr algn="ctr"/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</a:p>
                    <a:p>
                      <a:pPr algn="ctr"/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552555"/>
                  </a:ext>
                </a:extLst>
              </a:tr>
              <a:tr h="3869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20221CSE0600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Manjunatha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771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20221CSE0599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Mamatha S M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08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20221CSE0569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Archana P</a:t>
                      </a:r>
                      <a:endParaRPr lang="en-IN" sz="16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471259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B6D9990-4255-E154-1207-6DF1D30A0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807879"/>
            <a:ext cx="10363200" cy="1470000"/>
          </a:xfrm>
        </p:spPr>
        <p:txBody>
          <a:bodyPr/>
          <a:lstStyle/>
          <a:p>
            <a:pPr lvl="0" algn="ctr"/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Batch Number:  CSE_104      </a:t>
            </a:r>
            <a:b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Internship/Industrial Training with Placement Opportunity</a:t>
            </a:r>
            <a:b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 SIH25106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234703" y="742950"/>
            <a:ext cx="12324010" cy="611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  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Rajasthan</a:t>
            </a:r>
            <a:endParaRPr lang="en-US" sz="1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(Hardware / Software / Both) :          </a:t>
            </a:r>
            <a:r>
              <a:rPr lang="en-US" sz="1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 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campus-centric software platform could replace this maze of PDFs, emails, and manual ledgers with a single source of truth.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would maintain one digital profile cover letter, resume, skills badge sheet updated once per semester.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placement cell would publish openings tagged by required competencies, department, stipend range, and potential placement conversion.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engine could surface the best-fit roles to each learner, who then applies with a single click.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mentors would receive automated approval requests, interview calendars would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synchronise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academic timetables, and real-time dashboards would show how many students remain unplaced or how many interviews are scheduled this week.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training, supervisors would log feedback directly in the portal, triggering certificate generation and automatically updating the student's employability record, which recruiters can later verify.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public institutes operate on tight budgets, the solution must remain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-free or very low-cost, leveraging existing institutional infrastructure, and adhere to strict data-privacy norms, providing role-based access so employers view only relevant candidate information. </a:t>
            </a:r>
          </a:p>
          <a:p>
            <a:pPr marL="723900" indent="-571500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focusing squarely on the needs of students and the placement cell, the platform would turn internship hunting from a manual scavenger hunt into a transparent, data-driven, and career-oriented journey. </a:t>
            </a:r>
            <a:endParaRPr lang="en-US" sz="1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624BA0-CA92-3DD1-9FF9-15C98875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6063"/>
            <a:ext cx="10668000" cy="4875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B7A9-B5EB-7BAC-E175-41BA131E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30307"/>
            <a:ext cx="11934825" cy="5197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and placement processes in institutions are currently manual and fragmented.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placement cells face inefficiencies, delays, and lack of transparency.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 unified, campus-centric digital platform.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applications, approvals, scheduling, and progress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employability outcomes through data-driven placement management.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SDG Mapping :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improves access to structured internships and placements, helping students gain practical skills and career guidance.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connecting students with verified internship and job opportunities, the system supports fair employment and smooth transition from education to work.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Innovation, and Infrastructure: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promotes digital transformation in institutions by replacing manual processes with an efficient, software-driven system.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559729" y="186761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2CDF36-4A18-60D3-B277-8AAA5B07D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94" y="1209802"/>
            <a:ext cx="11667565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internship &amp; placement portal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verified student profiles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mentor approvals and interview scheduling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skill-based job matching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track students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→ offer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certificates &amp; employability records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 and role-based access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keep the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and scalable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63E0BB-4143-4842-9C9A-5B484BF10B48}"/>
              </a:ext>
            </a:extLst>
          </p:cNvPr>
          <p:cNvSpPr txBox="1">
            <a:spLocks/>
          </p:cNvSpPr>
          <p:nvPr/>
        </p:nvSpPr>
        <p:spPr>
          <a:xfrm>
            <a:off x="629023" y="33725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E9A514F-E30D-1797-7630-A7EEF06C1910}"/>
              </a:ext>
            </a:extLst>
          </p:cNvPr>
          <p:cNvSpPr txBox="1">
            <a:spLocks/>
          </p:cNvSpPr>
          <p:nvPr/>
        </p:nvSpPr>
        <p:spPr>
          <a:xfrm>
            <a:off x="762000" y="108024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and placement are mandatory components in technical education.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processes are manual and fragmented:</a:t>
            </a:r>
          </a:p>
          <a:p>
            <a:pPr marL="7620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WhatsApp groups for notices</a:t>
            </a:r>
          </a:p>
          <a:p>
            <a:pPr marL="7620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Emails for resumes</a:t>
            </a:r>
          </a:p>
          <a:p>
            <a:pPr marL="7620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Physical approvals from mentors</a:t>
            </a:r>
          </a:p>
          <a:p>
            <a:pPr marL="7620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Excel sheets for tracking placements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miss deadlines and opportunities.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 spend excessive time on coordination instead of mentoring.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verifying student skills and internship outcomes.</a:t>
            </a:r>
          </a:p>
          <a:p>
            <a:pPr marL="76200" indent="0">
              <a:buFont typeface="Arial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data tracking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placement opportunities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66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B39643-8243-D1ED-9B0E-2519AA5D8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497428"/>
              </p:ext>
            </p:extLst>
          </p:nvPr>
        </p:nvGraphicFramePr>
        <p:xfrm>
          <a:off x="561474" y="996282"/>
          <a:ext cx="10695975" cy="4865436"/>
        </p:xfrm>
        <a:graphic>
          <a:graphicData uri="http://schemas.openxmlformats.org/drawingml/2006/table">
            <a:tbl>
              <a:tblPr firstRow="1">
                <a:tableStyleId>{125E5076-3810-47DD-B79F-674D7AD40C01}</a:tableStyleId>
              </a:tblPr>
              <a:tblGrid>
                <a:gridCol w="2249805">
                  <a:extLst>
                    <a:ext uri="{9D8B030D-6E8A-4147-A177-3AD203B41FA5}">
                      <a16:colId xmlns:a16="http://schemas.microsoft.com/office/drawing/2014/main" val="2390842108"/>
                    </a:ext>
                  </a:extLst>
                </a:gridCol>
                <a:gridCol w="2815390">
                  <a:extLst>
                    <a:ext uri="{9D8B030D-6E8A-4147-A177-3AD203B41FA5}">
                      <a16:colId xmlns:a16="http://schemas.microsoft.com/office/drawing/2014/main" val="2906692520"/>
                    </a:ext>
                  </a:extLst>
                </a:gridCol>
                <a:gridCol w="2815390">
                  <a:extLst>
                    <a:ext uri="{9D8B030D-6E8A-4147-A177-3AD203B41FA5}">
                      <a16:colId xmlns:a16="http://schemas.microsoft.com/office/drawing/2014/main" val="405194020"/>
                    </a:ext>
                  </a:extLst>
                </a:gridCol>
                <a:gridCol w="2815390">
                  <a:extLst>
                    <a:ext uri="{9D8B030D-6E8A-4147-A177-3AD203B41FA5}">
                      <a16:colId xmlns:a16="http://schemas.microsoft.com/office/drawing/2014/main" val="77531176"/>
                    </a:ext>
                  </a:extLst>
                </a:gridCol>
              </a:tblGrid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/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596690"/>
                  </a:ext>
                </a:extLst>
              </a:tr>
              <a:tr h="867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Kulkarni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Placement Portal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internship or mentor approval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060798"/>
                  </a:ext>
                </a:extLst>
              </a:tr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Wang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Matching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Skill-based 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institutional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066975"/>
                  </a:ext>
                </a:extLst>
              </a:tr>
              <a:tr h="867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Singh et al.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 Recruitment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&amp; company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analytics or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343375"/>
                  </a:ext>
                </a:extLst>
              </a:tr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 Alsolais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Internship Portal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Internship supervision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placement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402889"/>
                  </a:ext>
                </a:extLst>
              </a:tr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 Gurlhosur et al.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Resume Analyzer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end-to-end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34606"/>
                  </a:ext>
                </a:extLst>
              </a:tr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 Internshala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/ Internship Portal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Opportunity discovery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academic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47784"/>
                  </a:ext>
                </a:extLst>
              </a:tr>
              <a:tr h="51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 Superset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 Hiring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Hiring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Commercial, high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7561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10E1BF-882D-6D1C-EB4A-10C472819116}"/>
              </a:ext>
            </a:extLst>
          </p:cNvPr>
          <p:cNvSpPr txBox="1"/>
          <p:nvPr/>
        </p:nvSpPr>
        <p:spPr>
          <a:xfrm>
            <a:off x="898358" y="385012"/>
            <a:ext cx="4170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2618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7"/>
            <a:ext cx="11327906" cy="62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09C985-5F41-4B66-D982-7A13BCF4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612" y="1006387"/>
            <a:ext cx="9838765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rely on manual coordination and basic digital tools.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portals focus only on job discovery, not institutional workflows.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studies propose placement portals but lack internship integration.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systems support mentor approvals and academic scheduling.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the need for a unified campus-centric solution.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repository.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dependency on manual approvals and follow-ups.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matching between student skills and opportunities.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of placement status for students and administrators.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real-time analytics and reporting.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>
              <a:spcBef>
                <a:spcPts val="0"/>
              </a:spcBef>
              <a:buSzPct val="100000"/>
              <a:buNone/>
            </a:pPr>
            <a:b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Link : </a:t>
            </a:r>
            <a:b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https://github.com/Mamatha599/CSE_104-Internship-Industrial-Training-with-Placement-Opportunity_University_Project/</a:t>
            </a:r>
            <a:endParaRPr lang="en-US" sz="1800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6CB3C-933C-3793-4403-0E932EE54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839" y="2347046"/>
            <a:ext cx="2849707" cy="28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CCB8-20B9-F7DD-C269-5DA2D28E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3C8E6F-B2F1-B0E8-B695-DCD553751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932804"/>
            <a:ext cx="1066800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internship and placement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single campus-centric platform.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verified digital student profile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reusable for all internship and placement applications.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mentor approval workflow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manual follow-ups and delays.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Skill-based opportunity matching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recommend suitable internships and job roles to students.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placement cells to monitor application status, interviews, and offers.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data privacy for students, faculty, and employers.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and low-cost technologies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the solution affordable for public institutions.</a:t>
            </a:r>
          </a:p>
        </p:txBody>
      </p:sp>
    </p:spTree>
    <p:extLst>
      <p:ext uri="{BB962C8B-B14F-4D97-AF65-F5344CB8AC3E}">
        <p14:creationId xmlns:p14="http://schemas.microsoft.com/office/powerpoint/2010/main" val="373631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798" y="1006996"/>
            <a:ext cx="8842189" cy="488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role-based software portal with: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module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system features: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posting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Skill-based student matching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One-click application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approvals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scheduling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lifecycle tracking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→ Certificate generation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analytics dashboard</a:t>
            </a:r>
          </a:p>
          <a:p>
            <a:pPr marL="762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0DF1-AC2E-4A2A-861B-74DD9DA3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Justification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C3B23-A0F2-FD40-7FF2-6AB5BA194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9675906" cy="371138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technologies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cost-effective and practical for institutions.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Cloud deployment ensures scalability and availability.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allows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development and future enhancements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real challenges faced by students and placement cells, justifying its need.</a:t>
            </a:r>
          </a:p>
        </p:txBody>
      </p:sp>
    </p:spTree>
    <p:extLst>
      <p:ext uri="{BB962C8B-B14F-4D97-AF65-F5344CB8AC3E}">
        <p14:creationId xmlns:p14="http://schemas.microsoft.com/office/powerpoint/2010/main" val="346340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C73A-5210-A59B-2B65-11623A10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07B80-E7EA-C923-63B6-FB16C9186BDF}"/>
              </a:ext>
            </a:extLst>
          </p:cNvPr>
          <p:cNvSpPr txBox="1"/>
          <p:nvPr/>
        </p:nvSpPr>
        <p:spPr>
          <a:xfrm>
            <a:off x="1143000" y="1062319"/>
            <a:ext cx="84447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MongoDB / Firebase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(AWS / GCP / Render /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(Job Matching)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(Certificate Verification)</a:t>
            </a:r>
          </a:p>
        </p:txBody>
      </p:sp>
    </p:spTree>
    <p:extLst>
      <p:ext uri="{BB962C8B-B14F-4D97-AF65-F5344CB8AC3E}">
        <p14:creationId xmlns:p14="http://schemas.microsoft.com/office/powerpoint/2010/main" val="2985981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D7B8-2791-8B30-9230-87488C02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Expected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5F503-4993-4929-B0CB-502903D57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internship and placement processes into a single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security and role-based access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approvals and scheduling efficiently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scalability and user adoption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administrative workload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placement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student-job matching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approvals &amp;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institutional placement performance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student employability</a:t>
            </a:r>
          </a:p>
        </p:txBody>
      </p:sp>
    </p:spTree>
    <p:extLst>
      <p:ext uri="{BB962C8B-B14F-4D97-AF65-F5344CB8AC3E}">
        <p14:creationId xmlns:p14="http://schemas.microsoft.com/office/powerpoint/2010/main" val="426601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F328E7-7325-8A17-0903-4F3D00A0F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25171"/>
              </p:ext>
            </p:extLst>
          </p:nvPr>
        </p:nvGraphicFramePr>
        <p:xfrm>
          <a:off x="1465729" y="1158687"/>
          <a:ext cx="9520518" cy="4515972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814820">
                  <a:extLst>
                    <a:ext uri="{9D8B030D-6E8A-4147-A177-3AD203B41FA5}">
                      <a16:colId xmlns:a16="http://schemas.microsoft.com/office/drawing/2014/main" val="2967209027"/>
                    </a:ext>
                  </a:extLst>
                </a:gridCol>
                <a:gridCol w="6705698">
                  <a:extLst>
                    <a:ext uri="{9D8B030D-6E8A-4147-A177-3AD203B41FA5}">
                      <a16:colId xmlns:a16="http://schemas.microsoft.com/office/drawing/2014/main" val="2082794973"/>
                    </a:ext>
                  </a:extLst>
                </a:gridCol>
              </a:tblGrid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Planned 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6710978"/>
                  </a:ext>
                </a:extLst>
              </a:tr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analysis, literature survey, 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0511723"/>
                  </a:ext>
                </a:extLst>
              </a:tr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design &amp;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215101"/>
                  </a:ext>
                </a:extLst>
              </a:tr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50% module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8284935"/>
                  </a:ext>
                </a:extLst>
              </a:tr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80% system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7274992"/>
                  </a:ext>
                </a:extLst>
              </a:tr>
              <a:tr h="75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Viva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Fully functional system + research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94305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AA3ED9-F164-F883-5658-79C429E5B884}"/>
              </a:ext>
            </a:extLst>
          </p:cNvPr>
          <p:cNvSpPr txBox="1"/>
          <p:nvPr/>
        </p:nvSpPr>
        <p:spPr>
          <a:xfrm>
            <a:off x="1304364" y="249524"/>
            <a:ext cx="4437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</a:t>
            </a:r>
          </a:p>
        </p:txBody>
      </p:sp>
    </p:spTree>
    <p:extLst>
      <p:ext uri="{BB962C8B-B14F-4D97-AF65-F5344CB8AC3E}">
        <p14:creationId xmlns:p14="http://schemas.microsoft.com/office/powerpoint/2010/main" val="1219136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BEFE41-7145-4438-994E-DA041392D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23" y="1189669"/>
            <a:ext cx="11645153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600" dirty="0"/>
              <a:t>[1] A. Kulkarni, R. Patil, and S. Deshmukh, “Centralized Student Placement Portal,” </a:t>
            </a:r>
            <a:r>
              <a:rPr lang="en-IN" sz="1600" i="1" dirty="0"/>
              <a:t>International Journal of Research and Scientific Innovation (IJRSI)</a:t>
            </a:r>
            <a:r>
              <a:rPr lang="en-IN" sz="1600" dirty="0"/>
              <a:t>, vol. 12, no. 10, pp. 3164–3169, Oct. 2025.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Wang,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Job Matching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Elsevier, 2025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[2] J. Wang, “Student Job Matching System Based on Personalized Recommendation,” </a:t>
            </a:r>
            <a:r>
              <a:rPr lang="en-US" sz="1600" i="1" dirty="0"/>
              <a:t>Systems and Soft Computing</a:t>
            </a:r>
            <a:r>
              <a:rPr lang="en-US" sz="1600" dirty="0"/>
              <a:t>, vol. 7, pp. 200302, Dec. 2025.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[3] J. Singh, A. Verma, and R. Sharma, “Campus Recruitment and Placement System,” </a:t>
            </a:r>
            <a:r>
              <a:rPr lang="en-US" sz="1600" i="1" dirty="0"/>
              <a:t>International Journal for Research in Applied Science and Engineering Technology (IJRASET)</a:t>
            </a:r>
            <a:r>
              <a:rPr lang="en-US" sz="1600" dirty="0"/>
              <a:t>, vol. 11, no. 4, pp. 128–136, Apr. 2023.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[4] A. M. </a:t>
            </a:r>
            <a:r>
              <a:rPr lang="en-US" sz="1600" dirty="0" err="1"/>
              <a:t>Alsolais</a:t>
            </a:r>
            <a:r>
              <a:rPr lang="en-US" sz="1600" dirty="0"/>
              <a:t>, “Web-Based Student Internship Portal for Health Colleges,” </a:t>
            </a:r>
            <a:r>
              <a:rPr lang="en-US" sz="1600" i="1" dirty="0"/>
              <a:t>Fortune Journal of Health Sciences</a:t>
            </a:r>
            <a:r>
              <a:rPr lang="en-US" sz="1600" dirty="0"/>
              <a:t>, vol. 5, pp. 451–460, 2022.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600" dirty="0"/>
              <a:t>[5] P. </a:t>
            </a:r>
            <a:r>
              <a:rPr lang="en-IN" sz="1600" dirty="0" err="1"/>
              <a:t>Gurlhosur</a:t>
            </a:r>
            <a:r>
              <a:rPr lang="en-IN" sz="1600" dirty="0"/>
              <a:t>, S. Patil, and A. Kulkarni, “Placement Management System with AI-Based Resume Analyzer,” </a:t>
            </a:r>
            <a:r>
              <a:rPr lang="en-IN" sz="1600" i="1" dirty="0"/>
              <a:t>International Journal of Novel Research and Development (IJNRD)</a:t>
            </a:r>
            <a:r>
              <a:rPr lang="en-IN" sz="1600" dirty="0"/>
              <a:t>, vol. 9, no. 6, pp. 237–244, Jun. 2024.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[6] </a:t>
            </a:r>
            <a:r>
              <a:rPr lang="en-US" sz="1600" dirty="0" err="1"/>
              <a:t>Internshala</a:t>
            </a:r>
            <a:r>
              <a:rPr lang="en-US" sz="1600" dirty="0"/>
              <a:t>, “Internship and Job Portal,” [Online]. Available: </a:t>
            </a:r>
            <a:r>
              <a:rPr lang="en-US" sz="1600" dirty="0">
                <a:hlinkClick r:id="rId3"/>
              </a:rPr>
              <a:t>https://internshala.com</a:t>
            </a:r>
            <a:endParaRPr lang="en-US" sz="16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[7] Superset, “Campus Hiring and Placement Automation Platform,” [Online]. Available: </a:t>
            </a:r>
            <a:r>
              <a:rPr lang="en-US" sz="1600" dirty="0">
                <a:hlinkClick r:id="rId4"/>
              </a:rPr>
              <a:t>https://joinsuperset.com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1477</Words>
  <Application>Microsoft Office PowerPoint</Application>
  <PresentationFormat>Widescreen</PresentationFormat>
  <Paragraphs>209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</vt:lpstr>
      <vt:lpstr>Times New Roman</vt:lpstr>
      <vt:lpstr>Verdana</vt:lpstr>
      <vt:lpstr>Bioinformatics</vt:lpstr>
      <vt:lpstr> Batch Number:  CSE_104         Internship/Industrial Training with Placement Opportunity </vt:lpstr>
      <vt:lpstr>Problem Statement Number:  SIH25106 </vt:lpstr>
      <vt:lpstr>Abstract</vt:lpstr>
      <vt:lpstr>Objectives</vt:lpstr>
      <vt:lpstr>PowerPoint Presentation</vt:lpstr>
      <vt:lpstr>PowerPoint Presentation</vt:lpstr>
      <vt:lpstr>Existing Methods and Drawbacks</vt:lpstr>
      <vt:lpstr>Github Link</vt:lpstr>
      <vt:lpstr> Proposed Method </vt:lpstr>
      <vt:lpstr>Modules</vt:lpstr>
      <vt:lpstr>Feasibility &amp; Justification</vt:lpstr>
      <vt:lpstr>Proposed Tech Stack</vt:lpstr>
      <vt:lpstr>Challenges &amp; Expected Impact</vt:lpstr>
      <vt:lpstr>PowerPoint Presentation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Manjunatha M</cp:lastModifiedBy>
  <cp:revision>59</cp:revision>
  <dcterms:modified xsi:type="dcterms:W3CDTF">2026-01-30T12:43:16Z</dcterms:modified>
</cp:coreProperties>
</file>